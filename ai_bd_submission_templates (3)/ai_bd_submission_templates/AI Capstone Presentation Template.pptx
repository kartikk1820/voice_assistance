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89" r:id="rId12"/>
    <p:sldId id="259" r:id="rId13"/>
  </p:sldIdLst>
  <p:sldSz cx="9902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11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ao44pu+KCA6NTQBv1XWNfs34U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1459" y="101"/>
      </p:cViewPr>
      <p:guideLst>
        <p:guide pos="311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DAD157A8-1C1F-4A6B-F197-091732FF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0922F1A-1AF4-1332-BE6E-BC9F3873EE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ABD48EB9-8A42-8310-994F-C97BC51CB7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534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127A3BD1-575B-073B-F078-26E32A83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31F31ABE-0D79-D68E-F3F8-BB7FACD4F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8688A882-4B64-10B1-C908-7341EDCA7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8329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9630EBA-D568-4889-0B32-8981B2E4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0503F192-17FB-698E-ECD1-4CC8A60D6C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251B28-FDCE-36D8-EB56-B7F8D5F441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312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35803BE-557E-7724-F461-5305773B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A2833593-2745-22BA-6E21-5E050C082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0C8E9160-D94B-B132-724C-C03BFA97EB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512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DB006D7-2A73-D1A8-CE19-E9C06F78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877BA6B0-3CB8-880D-4343-6F7704D6A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B14127E5-B5D5-EF13-C72C-84D4B12A7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8263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A6864B4-1019-CB0F-E6BE-955D64D2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1E7514A-FFC9-2FD3-4AEA-4BC170BFC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1D79D85D-84C2-C457-8350-E21292CF8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1417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E66DCE2-7338-9E45-CE05-90057930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E0BA2C6-E9E4-B3F2-C554-9C9CDA888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DAE23B58-2A71-463E-2404-9E89C5E84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2892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CF8F98BC-E3B6-F419-C472-5D77EAB4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>
            <a:extLst>
              <a:ext uri="{FF2B5EF4-FFF2-40B4-BE49-F238E27FC236}">
                <a16:creationId xmlns:a16="http://schemas.microsoft.com/office/drawing/2014/main" id="{E27501FA-503D-5B43-871C-509C515C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>
            <a:extLst>
              <a:ext uri="{FF2B5EF4-FFF2-40B4-BE49-F238E27FC236}">
                <a16:creationId xmlns:a16="http://schemas.microsoft.com/office/drawing/2014/main" id="{F835542A-A1D7-E0B9-5A3B-F454ECAC6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694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ront Cover">
  <p:cSld name="Front Cover">
    <p:bg>
      <p:bgPr>
        <a:solidFill>
          <a:srgbClr val="F2F2F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6"/>
          <p:cNvSpPr/>
          <p:nvPr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Artificial Intelligence Course</a:t>
            </a:r>
            <a:endParaRPr sz="2400" b="0" i="0" u="none" strike="noStrike" cap="none" dirty="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"/>
          <p:cNvSpPr/>
          <p:nvPr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2">
  <p:cSld name="3_Table of Contents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7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7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395"/>
            <a:ext cx="9899651" cy="685360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9"/>
          <p:cNvSpPr/>
          <p:nvPr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59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9"/>
          <p:cNvSpPr/>
          <p:nvPr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ⓒ2023 SAMSUNG. All rights reserved.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  <a:endParaRPr/>
          </a:p>
        </p:txBody>
      </p:sp>
      <p:pic>
        <p:nvPicPr>
          <p:cNvPr id="39" name="Google Shape;3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1822" y="3022951"/>
            <a:ext cx="2476006" cy="81209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449468" y="450000"/>
            <a:ext cx="1290568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10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10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45" name="Google Shape;45;p10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5">
          <p15:clr>
            <a:srgbClr val="FBAE40"/>
          </p15:clr>
        </p15:guide>
        <p15:guide id="2" pos="595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able of Contents2">
  <p:cSld name="2_Table of Contents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" name="Google Shape;48;p11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11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  <a:endParaRPr sz="2100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/>
          <p:nvPr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9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Arial"/>
              <a:buChar char="•"/>
              <a:defRPr sz="2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5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99"/>
              <a:buFont typeface="Arial"/>
              <a:buChar char="•"/>
              <a:defRPr sz="19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83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9"/>
              <a:buFont typeface="Arial"/>
              <a:buChar char="•"/>
              <a:defRPr sz="17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able of Contents">
  <p:cSld name="3_Table of Conten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2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2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1" name="Google Shape;61;p12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able of Contents">
  <p:cSld name="1_Table of Content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" name="Google Shape;64;p13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3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">
  <p:cSld name="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4"/>
          <p:cNvCxnSpPr/>
          <p:nvPr/>
        </p:nvCxnSpPr>
        <p:spPr>
          <a:xfrm>
            <a:off x="449468" y="6424935"/>
            <a:ext cx="9000714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4"/>
          <p:cNvSpPr txBox="1"/>
          <p:nvPr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"/>
              <a:buNone/>
            </a:pP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449468" y="900000"/>
            <a:ext cx="9000714" cy="0"/>
          </a:xfrm>
          <a:prstGeom prst="straightConnector1">
            <a:avLst/>
          </a:prstGeom>
          <a:noFill/>
          <a:ln w="15875" cap="flat" cmpd="sng">
            <a:solidFill>
              <a:srgbClr val="0924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4"/>
          <p:cNvSpPr txBox="1"/>
          <p:nvPr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ody">
  <p:cSld name="1_Body">
    <p:bg>
      <p:bgPr>
        <a:solidFill>
          <a:srgbClr val="F2F2F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9028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449468" y="450000"/>
            <a:ext cx="1282022" cy="198000"/>
          </a:xfrm>
          <a:custGeom>
            <a:avLst/>
            <a:gdLst/>
            <a:ahLst/>
            <a:cxnLst/>
            <a:rect l="l" t="t" r="r" b="b"/>
            <a:pathLst>
              <a:path w="2179" h="334" extrusionOk="0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9"/>
              <a:buFont typeface="Arial"/>
              <a:buNone/>
            </a:pPr>
            <a:endParaRPr sz="195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65631" y="6141164"/>
            <a:ext cx="1371564" cy="4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Ti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5">
            <a:extLst>
              <a:ext uri="{FF2B5EF4-FFF2-40B4-BE49-F238E27FC236}">
                <a16:creationId xmlns:a16="http://schemas.microsoft.com/office/drawing/2014/main" id="{1B2B22C2-BBD9-4044-B049-D10CDF14FDE6}"/>
              </a:ext>
            </a:extLst>
          </p:cNvPr>
          <p:cNvSpPr txBox="1">
            <a:spLocks/>
          </p:cNvSpPr>
          <p:nvPr userDrawn="1"/>
        </p:nvSpPr>
        <p:spPr>
          <a:xfrm>
            <a:off x="6324398" y="6347711"/>
            <a:ext cx="243335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kern="1200" dirty="0">
                <a:solidFill>
                  <a:schemeClr val="bg1">
                    <a:lumMod val="50000"/>
                  </a:schemeClr>
                </a:solidFill>
                <a:latin typeface="SamsungSharpSans-Medium" pitchFamily="2" charset="0"/>
                <a:ea typeface="SamsungSharpSans-Medium" pitchFamily="2" charset="0"/>
                <a:cs typeface="SamsungSharpSans-Medium" pitchFamily="2" charset="0"/>
              </a:rPr>
              <a:t>Chapter 2. Math for Data Science</a:t>
            </a:r>
            <a:endParaRPr lang="ko-KR" altLang="en-US" sz="1100" kern="1200" dirty="0">
              <a:solidFill>
                <a:schemeClr val="bg1">
                  <a:lumMod val="50000"/>
                </a:schemeClr>
              </a:solidFill>
              <a:latin typeface="SamsungSharpSans-Medium" pitchFamily="2" charset="0"/>
              <a:ea typeface="SamsungSharpSans-Medium" pitchFamily="2" charset="0"/>
              <a:cs typeface="SamsungSharpSans-Medium" pitchFamily="2" charset="0"/>
            </a:endParaRPr>
          </a:p>
        </p:txBody>
      </p:sp>
      <p:sp>
        <p:nvSpPr>
          <p:cNvPr id="3" name="슬라이드 번호 개체 틀 15">
            <a:extLst>
              <a:ext uri="{FF2B5EF4-FFF2-40B4-BE49-F238E27FC236}">
                <a16:creationId xmlns:a16="http://schemas.microsoft.com/office/drawing/2014/main" id="{8C6D6C91-60C1-41CF-B03F-1735A6A41637}"/>
              </a:ext>
            </a:extLst>
          </p:cNvPr>
          <p:cNvSpPr txBox="1">
            <a:spLocks/>
          </p:cNvSpPr>
          <p:nvPr userDrawn="1"/>
        </p:nvSpPr>
        <p:spPr>
          <a:xfrm>
            <a:off x="8805867" y="6347726"/>
            <a:ext cx="538163" cy="169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1100" smtClean="0"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Arial Unicode MS" panose="020B0604020202020204" pitchFamily="50" charset="-127"/>
              </a:rPr>
              <a:t>/44</a:t>
            </a:r>
          </a:p>
        </p:txBody>
      </p:sp>
    </p:spTree>
    <p:extLst>
      <p:ext uri="{BB962C8B-B14F-4D97-AF65-F5344CB8AC3E}">
        <p14:creationId xmlns:p14="http://schemas.microsoft.com/office/powerpoint/2010/main" val="330670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>
            <a:spLocks noGrp="1"/>
          </p:cNvSpPr>
          <p:nvPr>
            <p:ph type="body" idx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Team Name</a:t>
            </a:r>
            <a:endParaRPr/>
          </a:p>
        </p:txBody>
      </p:sp>
      <p:sp>
        <p:nvSpPr>
          <p:cNvPr id="83" name="Google Shape;83;p1"/>
          <p:cNvSpPr txBox="1"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Name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/>
          <p:cNvGrpSpPr/>
          <p:nvPr/>
        </p:nvGrpSpPr>
        <p:grpSpPr>
          <a:xfrm>
            <a:off x="710836" y="1583927"/>
            <a:ext cx="7280225" cy="3109808"/>
            <a:chOff x="4181256" y="3224809"/>
            <a:chExt cx="7280225" cy="3109808"/>
          </a:xfrm>
        </p:grpSpPr>
        <p:sp>
          <p:nvSpPr>
            <p:cNvPr id="89" name="Google Shape;89;p2"/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About our Team</a:t>
              </a: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0752" y="3641572"/>
              <a:ext cx="6300729" cy="2693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250000"/>
                </a:lnSpc>
              </a:pPr>
              <a:r>
                <a:rPr lang="en-IN" dirty="0"/>
                <a:t>Team Name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Project Title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Team Members &amp; Role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Course: SIC  Artificial Intelligence</a:t>
              </a:r>
            </a:p>
            <a:p>
              <a:pPr lvl="0">
                <a:lnSpc>
                  <a:spcPct val="250000"/>
                </a:lnSpc>
              </a:pPr>
              <a:r>
                <a:rPr lang="en-IN" dirty="0"/>
                <a:t>College &amp; Batch Code </a:t>
              </a: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A59423B-3E3F-8016-E4CB-1FF9A8C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60768E0D-C8F8-3514-ABA2-839F1D3F5EDA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6EE9B28F-17EA-AFD1-6211-C1BD78BE8CF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Problem Statement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02FF4208-F554-E9D6-EF6F-FC55C17522C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BD05678-D32A-AB30-6669-04022657530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4A3B9-5DC3-2B1E-1456-617DA4DB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079" y="2230794"/>
            <a:ext cx="3775393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real-world problem are you solving?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is affected by this problem?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2–3 lines concise description.</a:t>
            </a:r>
          </a:p>
        </p:txBody>
      </p:sp>
    </p:spTree>
    <p:extLst>
      <p:ext uri="{BB962C8B-B14F-4D97-AF65-F5344CB8AC3E}">
        <p14:creationId xmlns:p14="http://schemas.microsoft.com/office/powerpoint/2010/main" val="1169978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2482932-B83B-0B54-085E-3B3A5932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92151D37-B8E0-B876-4547-F029923D01C9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4A7183F-E94F-E8D9-1986-4F12BDD3A925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Objective of the Project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3FEF93F0-2720-ABD7-1BAC-A0BA38B5DF6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A2654EC-F1AA-C848-62AF-AC30D1A1A5AE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32631-E594-BFC9-A227-184B34D83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19" y="2095049"/>
            <a:ext cx="4065537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goals of the solution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outcome (what will the system do?)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bullet points (max 4)</a:t>
            </a:r>
          </a:p>
        </p:txBody>
      </p:sp>
    </p:spTree>
    <p:extLst>
      <p:ext uri="{BB962C8B-B14F-4D97-AF65-F5344CB8AC3E}">
        <p14:creationId xmlns:p14="http://schemas.microsoft.com/office/powerpoint/2010/main" val="236057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60E1FBCD-19A6-ABFC-D4AB-0BDB53A7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055310A-EB77-F2B7-6EA4-032AA3C14356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AA9AF2F5-8190-D87E-D70D-DAEF786C0BC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Proposed Solution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CE9CC80D-D795-CAD9-EC05-452BE27A7048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B35FBEF-9E92-07A1-B120-5ACAC3720BA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47457F-6E66-65D6-13F6-D9683E4DB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26" y="2528183"/>
            <a:ext cx="3913251" cy="88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solution approach in simple language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features (if any)</a:t>
            </a:r>
          </a:p>
        </p:txBody>
      </p:sp>
    </p:spTree>
    <p:extLst>
      <p:ext uri="{BB962C8B-B14F-4D97-AF65-F5344CB8AC3E}">
        <p14:creationId xmlns:p14="http://schemas.microsoft.com/office/powerpoint/2010/main" val="423068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5601139-3BAC-9292-3ED3-B5308469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8B5401BF-EF24-0258-1591-82129E83F4A3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801C461D-A0DA-A104-FC90-9E9BCFD25988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System Architecture / Flow Diagram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4BCC672-C645-4CF7-9CD0-F3A5EFE214C3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D31A5E2-6EB4-C015-39A4-90D07ACDA488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B44ECA2-F685-2995-5C82-0ABC06974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626" y="2528183"/>
            <a:ext cx="3983783" cy="887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Block diagram of system 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Flow of data Input → Processing → Output </a:t>
            </a:r>
          </a:p>
        </p:txBody>
      </p:sp>
    </p:spTree>
    <p:extLst>
      <p:ext uri="{BB962C8B-B14F-4D97-AF65-F5344CB8AC3E}">
        <p14:creationId xmlns:p14="http://schemas.microsoft.com/office/powerpoint/2010/main" val="242470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9830621B-B893-831E-FF1F-1B49F3CE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3765C36A-27A3-80B8-5DAD-3BE08E0A3CC2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EE6A1548-9AEF-D849-DF96-93703211C502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Tools, Technologies &amp; Libraries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6B5C259F-53DB-E23B-F121-A773C42585EC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224B7AB-0AB2-DA02-A151-2896E7A85FF3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D2CA4-118E-7A8F-7DC8-5B10B4F5D622}"/>
              </a:ext>
            </a:extLst>
          </p:cNvPr>
          <p:cNvSpPr txBox="1"/>
          <p:nvPr/>
        </p:nvSpPr>
        <p:spPr>
          <a:xfrm>
            <a:off x="1893805" y="2083214"/>
            <a:ext cx="6142382" cy="2691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i="1" dirty="0"/>
              <a:t>Depending on project type (Python, ML, DS, Web, etc.)</a:t>
            </a:r>
            <a:endParaRPr lang="en-IN" dirty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Programming Language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Libraries (NumPy, Pandas, scikit-learn, TensorFlow, etc.)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Tools (</a:t>
            </a:r>
            <a:r>
              <a:rPr lang="en-IN" dirty="0" err="1"/>
              <a:t>Jupyter</a:t>
            </a:r>
            <a:r>
              <a:rPr lang="en-IN" dirty="0"/>
              <a:t>, VS Code, GitHub, APIs, DB)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Source (Kaggle/UCI/custom)</a:t>
            </a:r>
          </a:p>
        </p:txBody>
      </p:sp>
    </p:spTree>
    <p:extLst>
      <p:ext uri="{BB962C8B-B14F-4D97-AF65-F5344CB8AC3E}">
        <p14:creationId xmlns:p14="http://schemas.microsoft.com/office/powerpoint/2010/main" val="279507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26E1E93-96BE-1014-B497-B952EBDC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EB8524AA-65E8-A24B-74F2-63CA6CB68109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35D8B2AE-3426-BAF2-0880-A153EC654F17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Dataset Description (If applicable)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899AEA62-EFA6-7E29-9E1F-33A91C84218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A06E43C-EFBB-AE1C-2884-5EB0D13BF41B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A1A0151-FB0C-7BB9-6439-87CD3D0A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731" y="2263045"/>
            <a:ext cx="3717684" cy="1318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size, features &amp; sample columns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summary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rows (small table)</a:t>
            </a:r>
          </a:p>
        </p:txBody>
      </p:sp>
    </p:spTree>
    <p:extLst>
      <p:ext uri="{BB962C8B-B14F-4D97-AF65-F5344CB8AC3E}">
        <p14:creationId xmlns:p14="http://schemas.microsoft.com/office/powerpoint/2010/main" val="2555964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7B308FF-814A-D289-9712-1F1355171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5F3AD51A-CFAA-1F26-F161-083875E52E0C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DD15EF8D-9EA7-264A-2B45-B5267B60EB9C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Project Screenshots / Project Designs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BD15D64-4EDF-81F2-630F-6728A8C9C96F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CD51A9C-B4FA-0069-9BDF-C6CB1005BB81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C2E9EF-54E7-A8DF-E645-3A8D210D4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625" y="2303771"/>
            <a:ext cx="2621230" cy="1614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Insert UI designs, 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model output screenshots, 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/>
              <a:t>architecture visuals, etc.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92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F7BEB051-8142-E367-3920-D6E37DF7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">
            <a:extLst>
              <a:ext uri="{FF2B5EF4-FFF2-40B4-BE49-F238E27FC236}">
                <a16:creationId xmlns:a16="http://schemas.microsoft.com/office/drawing/2014/main" id="{41718C6F-B8DE-CA8A-240E-68218888EE1A}"/>
              </a:ext>
            </a:extLst>
          </p:cNvPr>
          <p:cNvGrpSpPr/>
          <p:nvPr/>
        </p:nvGrpSpPr>
        <p:grpSpPr>
          <a:xfrm>
            <a:off x="710836" y="1583927"/>
            <a:ext cx="4379913" cy="278172"/>
            <a:chOff x="4181256" y="3224809"/>
            <a:chExt cx="4379913" cy="278172"/>
          </a:xfrm>
        </p:grpSpPr>
        <p:sp>
          <p:nvSpPr>
            <p:cNvPr id="89" name="Google Shape;89;p2">
              <a:extLst>
                <a:ext uri="{FF2B5EF4-FFF2-40B4-BE49-F238E27FC236}">
                  <a16:creationId xmlns:a16="http://schemas.microsoft.com/office/drawing/2014/main" id="{5EE604B8-B3E1-8475-4C2B-66D77123761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rPr>
                <a:t>Results &amp; Performance</a:t>
              </a:r>
              <a:endParaRPr dirty="0"/>
            </a:p>
          </p:txBody>
        </p:sp>
        <p:sp>
          <p:nvSpPr>
            <p:cNvPr id="90" name="Google Shape;90;p2">
              <a:extLst>
                <a:ext uri="{FF2B5EF4-FFF2-40B4-BE49-F238E27FC236}">
                  <a16:creationId xmlns:a16="http://schemas.microsoft.com/office/drawing/2014/main" id="{49983E4E-AEDD-2034-DC42-A184C1C02D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0E6A5745-51F5-A468-15F6-90E7A5604CD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Name</a:t>
            </a:r>
            <a:endParaRPr sz="2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BE643A-C509-D540-A303-6D26B8B5A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707" y="2042720"/>
            <a:ext cx="2722220" cy="3230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/ Final Outcome</a:t>
            </a:r>
          </a:p>
          <a:p>
            <a:pPr marL="285750" marR="0" lvl="0" indent="-28575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findings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dirty="0"/>
              <a:t>Challenges Faced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IN" dirty="0"/>
              <a:t>Future Scope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Features to be added</a:t>
            </a:r>
          </a:p>
          <a:p>
            <a:pPr marL="285750" lvl="0" indent="-28575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  <a:tabLst>
                <a:tab pos="447675" algn="l"/>
              </a:tabLst>
            </a:pP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Scaling or deployment plans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06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1" y="0"/>
            <a:ext cx="9902826" cy="6858000"/>
            <a:chOff x="-1" y="0"/>
            <a:chExt cx="9902826" cy="6858000"/>
          </a:xfrm>
        </p:grpSpPr>
        <p:pic>
          <p:nvPicPr>
            <p:cNvPr id="11" name="그림 2">
              <a:extLst>
                <a:ext uri="{FF2B5EF4-FFF2-40B4-BE49-F238E27FC236}">
                  <a16:creationId xmlns:a16="http://schemas.microsoft.com/office/drawing/2014/main" id="{5DB88D6A-0437-41B5-8719-35E861A56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198"/>
              <a:ext cx="9902825" cy="6855802"/>
            </a:xfrm>
            <a:prstGeom prst="rect">
              <a:avLst/>
            </a:prstGeom>
          </p:spPr>
        </p:pic>
        <p:sp>
          <p:nvSpPr>
            <p:cNvPr id="13" name="직사각형 17">
              <a:extLst>
                <a:ext uri="{FF2B5EF4-FFF2-40B4-BE49-F238E27FC236}">
                  <a16:creationId xmlns:a16="http://schemas.microsoft.com/office/drawing/2014/main" id="{789C5074-4DAE-4026-AD47-B9945924B2E2}"/>
                </a:ext>
              </a:extLst>
            </p:cNvPr>
            <p:cNvSpPr/>
            <p:nvPr/>
          </p:nvSpPr>
          <p:spPr>
            <a:xfrm>
              <a:off x="-1" y="0"/>
              <a:ext cx="9902826" cy="6858000"/>
            </a:xfrm>
            <a:prstGeom prst="rect">
              <a:avLst/>
            </a:prstGeom>
            <a:solidFill>
              <a:schemeClr val="tx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" panose="020B0503030303020204" pitchFamily="34" charset="0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4" name="직선 연결선 11">
              <a:extLst>
                <a:ext uri="{FF2B5EF4-FFF2-40B4-BE49-F238E27FC236}">
                  <a16:creationId xmlns:a16="http://schemas.microsoft.com/office/drawing/2014/main" id="{8F374A7D-F260-4587-9A59-12BC85A3DDC1}"/>
                </a:ext>
              </a:extLst>
            </p:cNvPr>
            <p:cNvCxnSpPr/>
            <p:nvPr/>
          </p:nvCxnSpPr>
          <p:spPr>
            <a:xfrm>
              <a:off x="656391" y="2327183"/>
              <a:ext cx="0" cy="1976055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직사각형 133">
              <a:extLst>
                <a:ext uri="{FF2B5EF4-FFF2-40B4-BE49-F238E27FC236}">
                  <a16:creationId xmlns:a16="http://schemas.microsoft.com/office/drawing/2014/main" id="{D24015EF-24A9-454E-B555-41065A382381}"/>
                </a:ext>
              </a:extLst>
            </p:cNvPr>
            <p:cNvSpPr/>
            <p:nvPr/>
          </p:nvSpPr>
          <p:spPr>
            <a:xfrm>
              <a:off x="848337" y="2399574"/>
              <a:ext cx="8398097" cy="183127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55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j-lt"/>
                  <a:ea typeface="Samsung Sharp Sans" pitchFamily="2" charset="0"/>
                  <a:cs typeface="Samsung Sharp Sans" pitchFamily="2" charset="0"/>
                </a:rPr>
                <a:t>Thank You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2400" b="1" kern="1200" dirty="0">
                <a:solidFill>
                  <a:prstClr val="white"/>
                </a:solidFill>
                <a:latin typeface="+mj-lt"/>
                <a:ea typeface="Samsung Sharp Sans" pitchFamily="2" charset="0"/>
                <a:cs typeface="Samsung Sharp Sans" pitchFamily="2" charset="0"/>
              </a:endParaRPr>
            </a:p>
            <a:p>
              <a:pPr lvl="0" latinLnBrk="1">
                <a:buClrTx/>
                <a:defRPr/>
              </a:pPr>
              <a:r>
                <a:rPr lang="en-IN" sz="4000" b="1" dirty="0"/>
                <a:t>Open for questions</a:t>
              </a:r>
              <a:endParaRPr kumimoji="0" lang="en-US" altLang="ko-KR" sz="5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Samsung Sharp Sans" pitchFamily="2" charset="0"/>
                <a:cs typeface="Samsung Sharp Sans" pitchFamily="2" charset="0"/>
              </a:endParaRPr>
            </a:p>
          </p:txBody>
        </p:sp>
      </p:grpSp>
      <p:cxnSp>
        <p:nvCxnSpPr>
          <p:cNvPr id="21" name="직선 연결선 8">
            <a:extLst>
              <a:ext uri="{FF2B5EF4-FFF2-40B4-BE49-F238E27FC236}">
                <a16:creationId xmlns:a16="http://schemas.microsoft.com/office/drawing/2014/main" id="{25DE7436-47BD-40B7-92CB-A7CD2878D696}"/>
              </a:ext>
            </a:extLst>
          </p:cNvPr>
          <p:cNvCxnSpPr/>
          <p:nvPr/>
        </p:nvCxnSpPr>
        <p:spPr>
          <a:xfrm>
            <a:off x="569681" y="6209429"/>
            <a:ext cx="877434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7">
            <a:extLst>
              <a:ext uri="{FF2B5EF4-FFF2-40B4-BE49-F238E27FC236}">
                <a16:creationId xmlns:a16="http://schemas.microsoft.com/office/drawing/2014/main" id="{7FDCF192-C90A-4624-9B5C-7829663CF369}"/>
              </a:ext>
            </a:extLst>
          </p:cNvPr>
          <p:cNvSpPr/>
          <p:nvPr/>
        </p:nvSpPr>
        <p:spPr>
          <a:xfrm>
            <a:off x="572597" y="6355371"/>
            <a:ext cx="2888788" cy="2000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3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2903702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245</Words>
  <Application>Microsoft Office PowerPoint</Application>
  <PresentationFormat>Custom</PresentationFormat>
  <Paragraphs>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Malgun Gothic</vt:lpstr>
      <vt:lpstr>Arial</vt:lpstr>
      <vt:lpstr>Calibri</vt:lpstr>
      <vt:lpstr>Samsung Sharp Sans Bold</vt:lpstr>
      <vt:lpstr>SamsungOne 400</vt:lpstr>
      <vt:lpstr>SamsungSharpSans-Medium</vt:lpstr>
      <vt:lpstr>Office Theme</vt:lpstr>
      <vt:lpstr>Project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Soon Yong Chang</dc:creator>
  <cp:lastModifiedBy>Vishal Monga</cp:lastModifiedBy>
  <cp:revision>3</cp:revision>
  <dcterms:created xsi:type="dcterms:W3CDTF">2019-07-06T14:12:49Z</dcterms:created>
  <dcterms:modified xsi:type="dcterms:W3CDTF">2026-02-12T10:18:14Z</dcterms:modified>
</cp:coreProperties>
</file>